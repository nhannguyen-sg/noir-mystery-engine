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13716000" cx="24387025"/>
  <p:notesSz cx="13716000" cy="24387025"/>
  <p:embeddedFontLst>
    <p:embeddedFont>
      <p:font typeface="Caveat"/>
      <p:regular r:id="rId16"/>
      <p:bold r:id="rId17"/>
    </p:embeddedFont>
    <p:embeddedFont>
      <p:font typeface="Poppins"/>
      <p:regular r:id="rId18"/>
      <p:bold r:id="rId19"/>
      <p:italic r:id="rId20"/>
      <p:boldItalic r:id="rId21"/>
    </p:embeddedFont>
    <p:embeddedFont>
      <p:font typeface="Poppins SemiBold"/>
      <p:regular r:id="rId22"/>
      <p:bold r:id="rId23"/>
      <p:italic r:id="rId24"/>
      <p:boldItalic r:id="rId25"/>
    </p:embeddedFont>
    <p:embeddedFont>
      <p:font typeface="Alfa Slab One"/>
      <p:regular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gFNqRibVUPWl5BtCzSZ9RFmjRs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italic.fntdata"/><Relationship Id="rId22" Type="http://schemas.openxmlformats.org/officeDocument/2006/relationships/font" Target="fonts/PoppinsSemiBold-regular.fntdata"/><Relationship Id="rId21" Type="http://schemas.openxmlformats.org/officeDocument/2006/relationships/font" Target="fonts/Poppins-boldItalic.fntdata"/><Relationship Id="rId24" Type="http://schemas.openxmlformats.org/officeDocument/2006/relationships/font" Target="fonts/PoppinsSemiBold-italic.fntdata"/><Relationship Id="rId23" Type="http://schemas.openxmlformats.org/officeDocument/2006/relationships/font" Target="fonts/PoppinsSemiBold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AlfaSlabOne-regular.fntdata"/><Relationship Id="rId25" Type="http://schemas.openxmlformats.org/officeDocument/2006/relationships/font" Target="fonts/PoppinsSemiBold-boldItalic.fntdata"/><Relationship Id="rId27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Caveat-bold.fntdata"/><Relationship Id="rId16" Type="http://schemas.openxmlformats.org/officeDocument/2006/relationships/font" Target="fonts/Caveat-regular.fntdata"/><Relationship Id="rId19" Type="http://schemas.openxmlformats.org/officeDocument/2006/relationships/font" Target="fonts/Poppins-bold.fntdata"/><Relationship Id="rId18" Type="http://schemas.openxmlformats.org/officeDocument/2006/relationships/font" Target="fonts/Poppi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" name="Google Shape;3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" name="Google Shape;4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" name="Google Shape;8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" name="Google Shape;17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" name="Google Shape;209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2.png"/><Relationship Id="rId7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3.png"/><Relationship Id="rId5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3.png"/><Relationship Id="rId5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hyperlink" Target="http://drive.google.com/file/d/1oHSXzr3m5uAHByitcsqiAoBh3A9Qjkyn/view" TargetMode="External"/><Relationship Id="rId7" Type="http://schemas.openxmlformats.org/officeDocument/2006/relationships/image" Target="../media/image1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10" Type="http://schemas.openxmlformats.org/officeDocument/2006/relationships/image" Target="../media/image12.png"/><Relationship Id="rId9" Type="http://schemas.openxmlformats.org/officeDocument/2006/relationships/hyperlink" Target="http://github.com/NhanNguyen-SG/noir-mystery-engine" TargetMode="External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18.png"/><Relationship Id="rId8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E7D6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254032" y="254000"/>
            <a:ext cx="23878984" cy="13208000"/>
          </a:xfrm>
          <a:prstGeom prst="rect">
            <a:avLst/>
          </a:prstGeom>
          <a:solidFill>
            <a:srgbClr val="CB79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7" name="Google Shape;1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032" y="254000"/>
            <a:ext cx="23878984" cy="1320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8" name="Google Shape;1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063" y="508000"/>
            <a:ext cx="23370921" cy="127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"/>
          <p:cNvSpPr/>
          <p:nvPr/>
        </p:nvSpPr>
        <p:spPr>
          <a:xfrm>
            <a:off x="8649775" y="4597400"/>
            <a:ext cx="15313800" cy="28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727"/>
              </a:buClr>
              <a:buSzPts val="20000"/>
              <a:buFont typeface="Alfa Slab One"/>
              <a:buNone/>
            </a:pPr>
            <a:r>
              <a:rPr lang="en-US" sz="10000">
                <a:solidFill>
                  <a:srgbClr val="272727"/>
                </a:solidFill>
                <a:latin typeface="Alfa Slab One"/>
                <a:ea typeface="Alfa Slab One"/>
                <a:cs typeface="Alfa Slab One"/>
                <a:sym typeface="Alfa Slab One"/>
              </a:rPr>
              <a:t>NOIR MYSTERY</a:t>
            </a:r>
            <a:endParaRPr sz="10000">
              <a:solidFill>
                <a:srgbClr val="272727"/>
              </a:solidFill>
              <a:latin typeface="Alfa Slab One"/>
              <a:ea typeface="Alfa Slab One"/>
              <a:cs typeface="Alfa Slab One"/>
              <a:sym typeface="Alfa Slab On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727"/>
              </a:buClr>
              <a:buSzPts val="20000"/>
              <a:buFont typeface="Alfa Slab One"/>
              <a:buNone/>
            </a:pPr>
            <a:r>
              <a:rPr lang="en-US" sz="10000">
                <a:solidFill>
                  <a:srgbClr val="272727"/>
                </a:solidFill>
                <a:latin typeface="Alfa Slab One"/>
                <a:ea typeface="Alfa Slab One"/>
                <a:cs typeface="Alfa Slab One"/>
                <a:sym typeface="Alfa Slab One"/>
              </a:rPr>
              <a:t>STORY ENGINE</a:t>
            </a:r>
            <a:r>
              <a:rPr b="0" i="0" lang="en-US" sz="10000" u="none" cap="none" strike="noStrike">
                <a:solidFill>
                  <a:srgbClr val="272727"/>
                </a:solidFill>
                <a:latin typeface="Alfa Slab One"/>
                <a:ea typeface="Alfa Slab One"/>
                <a:cs typeface="Alfa Slab One"/>
                <a:sym typeface="Alfa Slab One"/>
              </a:rPr>
              <a:t> </a:t>
            </a:r>
            <a:endParaRPr b="0" i="0" sz="10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649775" y="7899400"/>
            <a:ext cx="13239300" cy="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6400"/>
              <a:buFont typeface="Poppins SemiBold"/>
              <a:buNone/>
            </a:pPr>
            <a:r>
              <a:rPr lang="en-US" sz="6400">
                <a:solidFill>
                  <a:srgbClr val="0E0E0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AGENTIC AI PRESENTATION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23370921" y="10515600"/>
            <a:ext cx="1016127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2" name="Google Shape;22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57457" y="2552700"/>
            <a:ext cx="7138292" cy="8813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" name="Google Shape;23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97375" y="2298700"/>
            <a:ext cx="5309264" cy="3733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" name="Google Shape;24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0200" y="7670800"/>
            <a:ext cx="7532041" cy="3746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"/>
          <p:cNvSpPr/>
          <p:nvPr/>
        </p:nvSpPr>
        <p:spPr>
          <a:xfrm>
            <a:off x="8395750" y="10515600"/>
            <a:ext cx="13239300" cy="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6400"/>
              <a:buFont typeface="Poppins SemiBold"/>
              <a:buNone/>
            </a:pPr>
            <a:r>
              <a:rPr lang="en-US" sz="4600">
                <a:solidFill>
                  <a:srgbClr val="0E0E0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Nhan Nguyen - Khoi Phan - Brent Thompson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E7D6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254032" y="254000"/>
            <a:ext cx="23878984" cy="13208000"/>
          </a:xfrm>
          <a:prstGeom prst="rect">
            <a:avLst/>
          </a:prstGeom>
          <a:solidFill>
            <a:srgbClr val="A7B7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32" name="Google Shape;3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032" y="254000"/>
            <a:ext cx="23878984" cy="1320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3" name="Google Shape;3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063" y="508000"/>
            <a:ext cx="23370921" cy="127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2"/>
          <p:cNvSpPr/>
          <p:nvPr/>
        </p:nvSpPr>
        <p:spPr>
          <a:xfrm>
            <a:off x="23370921" y="10515600"/>
            <a:ext cx="1016127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7095954" y="3327400"/>
            <a:ext cx="10207842" cy="27643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727"/>
              </a:buClr>
              <a:buSzPts val="12800"/>
              <a:buFont typeface="Alfa Slab One"/>
              <a:buNone/>
            </a:pPr>
            <a:r>
              <a:rPr b="0" i="0" lang="en-US" sz="12800" u="none" cap="none" strike="noStrike">
                <a:solidFill>
                  <a:srgbClr val="272727"/>
                </a:solidFill>
                <a:latin typeface="Alfa Slab One"/>
                <a:ea typeface="Alfa Slab One"/>
                <a:cs typeface="Alfa Slab One"/>
                <a:sym typeface="Alfa Slab One"/>
              </a:rPr>
              <a:t>WELCOME</a:t>
            </a:r>
            <a:endParaRPr b="0" i="0" sz="1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7108725" y="5933875"/>
            <a:ext cx="10182300" cy="57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3200"/>
              <a:buFont typeface="Poppins"/>
              <a:buNone/>
            </a:pPr>
            <a:r>
              <a:rPr lang="en-US" sz="5100">
                <a:solidFill>
                  <a:srgbClr val="0E0E0E"/>
                </a:solidFill>
                <a:latin typeface="Caveat"/>
                <a:ea typeface="Caveat"/>
                <a:cs typeface="Caveat"/>
                <a:sym typeface="Caveat"/>
              </a:rPr>
              <a:t>Welcome to the Noir Mystery Story Engine. We built an agentic AI system that takes any crime scene description and turns it into a full noir detective story, powered by four coordinated AI agents that reason, retrieve, and write together. Think Sherlock Holmes, but built with PydanticAI.</a:t>
            </a:r>
            <a:endParaRPr i="0" sz="5100" u="none" cap="none" strike="noStrike">
              <a:solidFill>
                <a:schemeClr val="dk1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E7D6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"/>
          <p:cNvSpPr/>
          <p:nvPr/>
        </p:nvSpPr>
        <p:spPr>
          <a:xfrm>
            <a:off x="254032" y="254000"/>
            <a:ext cx="23878984" cy="13208000"/>
          </a:xfrm>
          <a:prstGeom prst="rect">
            <a:avLst/>
          </a:prstGeom>
          <a:solidFill>
            <a:srgbClr val="A7B7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3" name="Google Shape;4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032" y="254000"/>
            <a:ext cx="23878984" cy="1320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4" name="Google Shape;4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063" y="508000"/>
            <a:ext cx="23370921" cy="127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3"/>
          <p:cNvSpPr/>
          <p:nvPr/>
        </p:nvSpPr>
        <p:spPr>
          <a:xfrm>
            <a:off x="1956299" y="7400392"/>
            <a:ext cx="11427195" cy="49868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727"/>
              </a:buClr>
              <a:buSzPts val="12800"/>
              <a:buFont typeface="Alfa Slab One"/>
              <a:buNone/>
            </a:pPr>
            <a:r>
              <a:rPr b="0" i="0" lang="en-US" sz="12800" u="none" cap="none" strike="noStrike">
                <a:solidFill>
                  <a:srgbClr val="272727"/>
                </a:solidFill>
                <a:latin typeface="Alfa Slab One"/>
                <a:ea typeface="Alfa Slab One"/>
                <a:cs typeface="Alfa Slab One"/>
                <a:sym typeface="Alfa Slab One"/>
              </a:rPr>
              <a:t>TABLE OF CONTENTS</a:t>
            </a:r>
            <a:endParaRPr b="0" i="0" sz="1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10199375" y="1638300"/>
            <a:ext cx="7760670" cy="16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7" name="Google Shape;47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99375" y="1638300"/>
            <a:ext cx="1625803" cy="16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3"/>
          <p:cNvSpPr/>
          <p:nvPr/>
        </p:nvSpPr>
        <p:spPr>
          <a:xfrm>
            <a:off x="10199375" y="1638300"/>
            <a:ext cx="1625803" cy="1625600"/>
          </a:xfrm>
          <a:prstGeom prst="roundRect">
            <a:avLst>
              <a:gd fmla="val 781313" name="adj"/>
            </a:avLst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10523265" y="1930400"/>
            <a:ext cx="978022" cy="10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lfa Slab One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Alfa Slab One"/>
                <a:ea typeface="Alfa Slab One"/>
                <a:cs typeface="Alfa Slab One"/>
                <a:sym typeface="Alfa Slab One"/>
              </a:rPr>
              <a:t>01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12028403" y="1676400"/>
            <a:ext cx="5931641" cy="15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12028403" y="1676400"/>
            <a:ext cx="6134867" cy="10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4800"/>
              <a:buFont typeface="Alfa Slab One"/>
              <a:buNone/>
            </a:pPr>
            <a:r>
              <a:rPr lang="en-US" sz="4800">
                <a:solidFill>
                  <a:srgbClr val="0E0E0E"/>
                </a:solidFill>
                <a:latin typeface="Alfa Slab One"/>
                <a:ea typeface="Alfa Slab One"/>
                <a:cs typeface="Alfa Slab One"/>
                <a:sym typeface="Alfa Slab One"/>
              </a:rPr>
              <a:t>THE PROBLEM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12028403" y="2616200"/>
            <a:ext cx="6067125" cy="7450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3200"/>
              <a:buFont typeface="Poppins"/>
              <a:buNone/>
            </a:pPr>
            <a:r>
              <a:rPr lang="en-US" sz="3200">
                <a:solidFill>
                  <a:srgbClr val="0E0E0E"/>
                </a:solidFill>
                <a:latin typeface="Poppins"/>
                <a:ea typeface="Poppins"/>
                <a:cs typeface="Poppins"/>
                <a:sym typeface="Poppins"/>
              </a:rPr>
              <a:t>Why one prompt isn't enough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12028403" y="4356100"/>
            <a:ext cx="7760670" cy="16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54" name="Google Shape;54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028403" y="4356100"/>
            <a:ext cx="1625803" cy="16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3"/>
          <p:cNvSpPr/>
          <p:nvPr/>
        </p:nvSpPr>
        <p:spPr>
          <a:xfrm>
            <a:off x="12028403" y="4356100"/>
            <a:ext cx="1625803" cy="1625600"/>
          </a:xfrm>
          <a:prstGeom prst="roundRect">
            <a:avLst>
              <a:gd fmla="val 781313" name="adj"/>
            </a:avLst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12314189" y="4648200"/>
            <a:ext cx="1054232" cy="10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lfa Slab One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Alfa Slab One"/>
                <a:ea typeface="Alfa Slab One"/>
                <a:cs typeface="Alfa Slab One"/>
                <a:sym typeface="Alfa Slab One"/>
              </a:rPr>
              <a:t>02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13857432" y="4394200"/>
            <a:ext cx="5931641" cy="15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13857432" y="4394200"/>
            <a:ext cx="6134867" cy="10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4800"/>
              <a:buFont typeface="Alfa Slab One"/>
              <a:buNone/>
            </a:pPr>
            <a:r>
              <a:rPr lang="en-US" sz="4800">
                <a:solidFill>
                  <a:srgbClr val="0E0E0E"/>
                </a:solidFill>
                <a:latin typeface="Alfa Slab One"/>
                <a:ea typeface="Alfa Slab One"/>
                <a:cs typeface="Alfa Slab One"/>
                <a:sym typeface="Alfa Slab One"/>
              </a:rPr>
              <a:t>OUR SOLUTION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13857432" y="5334000"/>
            <a:ext cx="6067125" cy="7450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3200"/>
              <a:buFont typeface="Poppins"/>
              <a:buNone/>
            </a:pPr>
            <a:r>
              <a:rPr lang="en-US" sz="3200">
                <a:solidFill>
                  <a:srgbClr val="0E0E0E"/>
                </a:solidFill>
                <a:latin typeface="Poppins"/>
                <a:ea typeface="Poppins"/>
                <a:cs typeface="Poppins"/>
                <a:sym typeface="Poppins"/>
              </a:rPr>
              <a:t>Meet the four agents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13857432" y="7073900"/>
            <a:ext cx="7760670" cy="16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61" name="Google Shape;61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857432" y="7073900"/>
            <a:ext cx="1625803" cy="16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3"/>
          <p:cNvSpPr/>
          <p:nvPr/>
        </p:nvSpPr>
        <p:spPr>
          <a:xfrm>
            <a:off x="13857432" y="7073900"/>
            <a:ext cx="1625803" cy="1625600"/>
          </a:xfrm>
          <a:prstGeom prst="roundRect">
            <a:avLst>
              <a:gd fmla="val 781313" name="adj"/>
            </a:avLst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14149568" y="7366000"/>
            <a:ext cx="1041530" cy="10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lfa Slab One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Alfa Slab One"/>
                <a:ea typeface="Alfa Slab One"/>
                <a:cs typeface="Alfa Slab One"/>
                <a:sym typeface="Alfa Slab One"/>
              </a:rPr>
              <a:t>03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15686461" y="7112000"/>
            <a:ext cx="5931641" cy="15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15686461" y="7112000"/>
            <a:ext cx="6134867" cy="10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4800"/>
              <a:buFont typeface="Alfa Slab One"/>
              <a:buNone/>
            </a:pPr>
            <a:r>
              <a:rPr lang="en-US" sz="4800">
                <a:solidFill>
                  <a:srgbClr val="0E0E0E"/>
                </a:solidFill>
                <a:latin typeface="Alfa Slab One"/>
                <a:ea typeface="Alfa Slab One"/>
                <a:cs typeface="Alfa Slab One"/>
                <a:sym typeface="Alfa Slab One"/>
              </a:rPr>
              <a:t>DEMO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15686461" y="8051800"/>
            <a:ext cx="6067125" cy="7450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3200"/>
              <a:buFont typeface="Poppins"/>
              <a:buNone/>
            </a:pPr>
            <a:r>
              <a:rPr lang="en-US" sz="3200">
                <a:solidFill>
                  <a:srgbClr val="0E0E0E"/>
                </a:solidFill>
                <a:latin typeface="Poppins"/>
                <a:ea typeface="Poppins"/>
                <a:cs typeface="Poppins"/>
                <a:sym typeface="Poppins"/>
              </a:rPr>
              <a:t>See it in action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5686461" y="9791700"/>
            <a:ext cx="7760670" cy="16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68" name="Google Shape;68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686461" y="9791700"/>
            <a:ext cx="1625803" cy="16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3"/>
          <p:cNvSpPr/>
          <p:nvPr/>
        </p:nvSpPr>
        <p:spPr>
          <a:xfrm>
            <a:off x="15686461" y="9791700"/>
            <a:ext cx="1625803" cy="1625600"/>
          </a:xfrm>
          <a:prstGeom prst="roundRect">
            <a:avLst>
              <a:gd fmla="val 781313" name="adj"/>
            </a:avLst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15959545" y="10083800"/>
            <a:ext cx="1079635" cy="10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lfa Slab One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Alfa Slab One"/>
                <a:ea typeface="Alfa Slab One"/>
                <a:cs typeface="Alfa Slab One"/>
                <a:sym typeface="Alfa Slab One"/>
              </a:rPr>
              <a:t>04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17515489" y="9829800"/>
            <a:ext cx="5931641" cy="15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17515489" y="9829800"/>
            <a:ext cx="6134867" cy="10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4800"/>
              <a:buFont typeface="Alfa Slab One"/>
              <a:buNone/>
            </a:pPr>
            <a:r>
              <a:rPr lang="en-US" sz="4800">
                <a:solidFill>
                  <a:srgbClr val="0E0E0E"/>
                </a:solidFill>
                <a:latin typeface="Alfa Slab One"/>
                <a:ea typeface="Alfa Slab One"/>
                <a:cs typeface="Alfa Slab One"/>
                <a:sym typeface="Alfa Slab One"/>
              </a:rPr>
              <a:t>EVALUATION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17515489" y="10769600"/>
            <a:ext cx="6067125" cy="7450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3200"/>
              <a:buFont typeface="Poppins"/>
              <a:buNone/>
            </a:pPr>
            <a:r>
              <a:rPr lang="en-US" sz="3200">
                <a:solidFill>
                  <a:srgbClr val="0E0E0E"/>
                </a:solidFill>
                <a:latin typeface="Poppins"/>
                <a:ea typeface="Poppins"/>
                <a:cs typeface="Poppins"/>
                <a:sym typeface="Poppins"/>
              </a:rPr>
              <a:t>Did it actually work?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10262883" y="3810000"/>
            <a:ext cx="9322965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75" name="Google Shape;75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62883" y="3771900"/>
            <a:ext cx="9322965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3"/>
          <p:cNvSpPr/>
          <p:nvPr/>
        </p:nvSpPr>
        <p:spPr>
          <a:xfrm>
            <a:off x="12193524" y="6527800"/>
            <a:ext cx="9322965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77" name="Google Shape;77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193524" y="6489700"/>
            <a:ext cx="9322965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3"/>
          <p:cNvSpPr/>
          <p:nvPr/>
        </p:nvSpPr>
        <p:spPr>
          <a:xfrm>
            <a:off x="13857432" y="9245600"/>
            <a:ext cx="9322965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79" name="Google Shape;79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857432" y="9207500"/>
            <a:ext cx="9322965" cy="3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E7D6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/>
          <p:nvPr/>
        </p:nvSpPr>
        <p:spPr>
          <a:xfrm>
            <a:off x="254032" y="254000"/>
            <a:ext cx="23878984" cy="13208000"/>
          </a:xfrm>
          <a:prstGeom prst="rect">
            <a:avLst/>
          </a:prstGeom>
          <a:solidFill>
            <a:srgbClr val="CB79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86" name="Google Shape;8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032" y="254000"/>
            <a:ext cx="23878984" cy="1320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7" name="Google Shape;8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063" y="508000"/>
            <a:ext cx="23370921" cy="127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4"/>
          <p:cNvSpPr/>
          <p:nvPr/>
        </p:nvSpPr>
        <p:spPr>
          <a:xfrm>
            <a:off x="23370921" y="10515600"/>
            <a:ext cx="1016127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2959470" y="2298700"/>
            <a:ext cx="13154611" cy="1735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727"/>
              </a:buClr>
              <a:buSzPts val="8000"/>
              <a:buFont typeface="Alfa Slab One"/>
              <a:buNone/>
            </a:pPr>
            <a:r>
              <a:rPr lang="en-US" sz="8000">
                <a:solidFill>
                  <a:srgbClr val="272727"/>
                </a:solidFill>
                <a:latin typeface="Alfa Slab One"/>
                <a:ea typeface="Alfa Slab One"/>
                <a:cs typeface="Alfa Slab One"/>
                <a:sym typeface="Alfa Slab One"/>
              </a:rPr>
              <a:t>THE PROBLEM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2959470" y="4711700"/>
            <a:ext cx="8861474" cy="68410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3200"/>
              <a:buFont typeface="Poppins"/>
              <a:buNone/>
            </a:pPr>
            <a:r>
              <a:rPr lang="en-US" sz="4000">
                <a:solidFill>
                  <a:srgbClr val="0E0E0E"/>
                </a:solidFill>
                <a:latin typeface="Poppins"/>
                <a:ea typeface="Poppins"/>
                <a:cs typeface="Poppins"/>
                <a:sym typeface="Poppins"/>
              </a:rPr>
              <a:t>A single prompt can't do everything </a:t>
            </a:r>
            <a:endParaRPr sz="4000">
              <a:solidFill>
                <a:srgbClr val="0E0E0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3200"/>
              <a:buFont typeface="Poppins"/>
              <a:buNone/>
            </a:pPr>
            <a:r>
              <a:rPr lang="en-US" sz="4000">
                <a:solidFill>
                  <a:srgbClr val="0E0E0E"/>
                </a:solidFill>
                <a:latin typeface="Poppins"/>
                <a:ea typeface="Poppins"/>
                <a:cs typeface="Poppins"/>
                <a:sym typeface="Poppins"/>
              </a:rPr>
              <a:t>at once. It can't reason through </a:t>
            </a:r>
            <a:endParaRPr sz="4000">
              <a:solidFill>
                <a:srgbClr val="0E0E0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3200"/>
              <a:buFont typeface="Poppins"/>
              <a:buNone/>
            </a:pPr>
            <a:r>
              <a:rPr lang="en-US" sz="4000">
                <a:solidFill>
                  <a:srgbClr val="0E0E0E"/>
                </a:solidFill>
                <a:latin typeface="Poppins"/>
                <a:ea typeface="Poppins"/>
                <a:cs typeface="Poppins"/>
                <a:sym typeface="Poppins"/>
              </a:rPr>
              <a:t>physical evidence step by step, </a:t>
            </a:r>
            <a:endParaRPr sz="4000">
              <a:solidFill>
                <a:srgbClr val="0E0E0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3200"/>
              <a:buFont typeface="Poppins"/>
              <a:buNone/>
            </a:pPr>
            <a:r>
              <a:rPr lang="en-US" sz="4000">
                <a:solidFill>
                  <a:srgbClr val="0E0E0E"/>
                </a:solidFill>
                <a:latin typeface="Poppins"/>
                <a:ea typeface="Poppins"/>
                <a:cs typeface="Poppins"/>
                <a:sym typeface="Poppins"/>
              </a:rPr>
              <a:t>search a knowledge base of classic </a:t>
            </a:r>
            <a:endParaRPr sz="4000">
              <a:solidFill>
                <a:srgbClr val="0E0E0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3200"/>
              <a:buFont typeface="Poppins"/>
              <a:buNone/>
            </a:pPr>
            <a:r>
              <a:rPr lang="en-US" sz="4000">
                <a:solidFill>
                  <a:srgbClr val="0E0E0E"/>
                </a:solidFill>
                <a:latin typeface="Poppins"/>
                <a:ea typeface="Poppins"/>
                <a:cs typeface="Poppins"/>
                <a:sym typeface="Poppins"/>
              </a:rPr>
              <a:t>detective literature, write an </a:t>
            </a:r>
            <a:endParaRPr sz="4000">
              <a:solidFill>
                <a:srgbClr val="0E0E0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3200"/>
              <a:buFont typeface="Poppins"/>
              <a:buNone/>
            </a:pPr>
            <a:r>
              <a:rPr lang="en-US" sz="4000">
                <a:solidFill>
                  <a:srgbClr val="0E0E0E"/>
                </a:solidFill>
                <a:latin typeface="Poppins"/>
                <a:ea typeface="Poppins"/>
                <a:cs typeface="Poppins"/>
                <a:sym typeface="Poppins"/>
              </a:rPr>
              <a:t>atmospheric noir story from scratch, </a:t>
            </a:r>
            <a:endParaRPr sz="4000">
              <a:solidFill>
                <a:srgbClr val="0E0E0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3200"/>
              <a:buFont typeface="Poppins"/>
              <a:buNone/>
            </a:pPr>
            <a:r>
              <a:rPr lang="en-US" sz="4000">
                <a:solidFill>
                  <a:srgbClr val="0E0E0E"/>
                </a:solidFill>
                <a:latin typeface="Poppins"/>
                <a:ea typeface="Poppins"/>
                <a:cs typeface="Poppins"/>
                <a:sym typeface="Poppins"/>
              </a:rPr>
              <a:t>AND remember clues across multiple </a:t>
            </a:r>
            <a:endParaRPr sz="4000">
              <a:solidFill>
                <a:srgbClr val="0E0E0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3200"/>
              <a:buFont typeface="Poppins"/>
              <a:buNone/>
            </a:pPr>
            <a:r>
              <a:rPr lang="en-US" sz="4000">
                <a:solidFill>
                  <a:srgbClr val="0E0E0E"/>
                </a:solidFill>
                <a:latin typeface="Poppins"/>
                <a:ea typeface="Poppins"/>
                <a:cs typeface="Poppins"/>
                <a:sym typeface="Poppins"/>
              </a:rPr>
              <a:t>conversation turns.</a:t>
            </a:r>
            <a:endParaRPr sz="4000">
              <a:solidFill>
                <a:srgbClr val="0E0E0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12701588" y="4711700"/>
            <a:ext cx="8861474" cy="68410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3200"/>
              <a:buFont typeface="Poppins"/>
              <a:buNone/>
            </a:pPr>
            <a:r>
              <a:rPr lang="en-US" sz="4000">
                <a:solidFill>
                  <a:srgbClr val="0E0E0E"/>
                </a:solidFill>
                <a:latin typeface="Poppins"/>
                <a:ea typeface="Poppins"/>
                <a:cs typeface="Poppins"/>
                <a:sym typeface="Poppins"/>
              </a:rPr>
              <a:t>These are four completely different cognitive tasks that require coordination. A real detective doesn't just look at a crime scene and immediately know the answer. They examine clues, consult case files, build a theory, write a report. That is exactly what our agents do.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E7D6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/>
          <p:nvPr/>
        </p:nvSpPr>
        <p:spPr>
          <a:xfrm>
            <a:off x="254032" y="254000"/>
            <a:ext cx="23878984" cy="13208000"/>
          </a:xfrm>
          <a:prstGeom prst="rect">
            <a:avLst/>
          </a:prstGeom>
          <a:solidFill>
            <a:srgbClr val="A7B7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98" name="Google Shape;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032" y="254000"/>
            <a:ext cx="23878984" cy="1320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99" name="Google Shape;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063" y="508000"/>
            <a:ext cx="23370921" cy="127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/>
          <p:nvPr/>
        </p:nvSpPr>
        <p:spPr>
          <a:xfrm>
            <a:off x="23370921" y="10515600"/>
            <a:ext cx="1016127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3234671" y="1144575"/>
            <a:ext cx="17917800" cy="17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727"/>
              </a:buClr>
              <a:buSzPts val="8000"/>
              <a:buFont typeface="Alfa Slab One"/>
              <a:buNone/>
            </a:pPr>
            <a:r>
              <a:rPr lang="en-US" sz="8000">
                <a:solidFill>
                  <a:srgbClr val="272727"/>
                </a:solidFill>
                <a:latin typeface="Alfa Slab One"/>
                <a:ea typeface="Alfa Slab One"/>
                <a:cs typeface="Alfa Slab One"/>
                <a:sym typeface="Alfa Slab One"/>
              </a:rPr>
              <a:t>ARCHITECTURE DIAGRAM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14" title="Screenshot 2026-04-25 at 2.22.30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79700" y="2429388"/>
            <a:ext cx="15027752" cy="8857224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/>
          <p:nvPr/>
        </p:nvSpPr>
        <p:spPr>
          <a:xfrm>
            <a:off x="4679688" y="11728500"/>
            <a:ext cx="151650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3600"/>
              <a:buFont typeface="Alfa Slab One"/>
              <a:buNone/>
            </a:pPr>
            <a:r>
              <a:rPr lang="en-US" sz="3200">
                <a:solidFill>
                  <a:srgbClr val="0E0E0E"/>
                </a:solidFill>
                <a:latin typeface="Alfa Slab One"/>
                <a:ea typeface="Alfa Slab One"/>
                <a:cs typeface="Alfa Slab One"/>
                <a:sym typeface="Alfa Slab One"/>
              </a:rPr>
              <a:t>User → Orchestrator → Detective + Witness → Narrator → Noir Story</a:t>
            </a:r>
            <a:endParaRPr sz="3200">
              <a:solidFill>
                <a:srgbClr val="0E0E0E"/>
              </a:solidFill>
              <a:latin typeface="Alfa Slab One"/>
              <a:ea typeface="Alfa Slab One"/>
              <a:cs typeface="Alfa Slab One"/>
              <a:sym typeface="Alfa Slab On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3600"/>
              <a:buFont typeface="Alfa Slab One"/>
              <a:buNone/>
            </a:pPr>
            <a:r>
              <a:t/>
            </a:r>
            <a:endParaRPr sz="3200">
              <a:solidFill>
                <a:srgbClr val="0E0E0E"/>
              </a:solidFill>
              <a:latin typeface="Alfa Slab One"/>
              <a:ea typeface="Alfa Slab One"/>
              <a:cs typeface="Alfa Slab One"/>
              <a:sym typeface="Alfa Slab On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E7D6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"/>
          <p:cNvSpPr/>
          <p:nvPr/>
        </p:nvSpPr>
        <p:spPr>
          <a:xfrm>
            <a:off x="254032" y="254000"/>
            <a:ext cx="23878984" cy="13208000"/>
          </a:xfrm>
          <a:prstGeom prst="rect">
            <a:avLst/>
          </a:prstGeom>
          <a:solidFill>
            <a:srgbClr val="CB79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10" name="Google Shape;11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032" y="254000"/>
            <a:ext cx="23878984" cy="1320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11" name="Google Shape;11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063" y="508000"/>
            <a:ext cx="23370921" cy="127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8"/>
          <p:cNvSpPr/>
          <p:nvPr/>
        </p:nvSpPr>
        <p:spPr>
          <a:xfrm>
            <a:off x="1621569" y="1689100"/>
            <a:ext cx="20216693" cy="1735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727"/>
              </a:buClr>
              <a:buSzPts val="8000"/>
              <a:buFont typeface="Alfa Slab One"/>
              <a:buNone/>
            </a:pPr>
            <a:r>
              <a:rPr lang="en-US" sz="8000">
                <a:solidFill>
                  <a:srgbClr val="272727"/>
                </a:solidFill>
                <a:latin typeface="Alfa Slab One"/>
                <a:ea typeface="Alfa Slab One"/>
                <a:cs typeface="Alfa Slab One"/>
                <a:sym typeface="Alfa Slab One"/>
              </a:rPr>
              <a:t>TECH STACK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2121165" y="3695700"/>
            <a:ext cx="6096762" cy="6096000"/>
          </a:xfrm>
          <a:prstGeom prst="roundRect">
            <a:avLst>
              <a:gd fmla="val 2083350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2222725" y="5125638"/>
            <a:ext cx="5995200" cy="8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4800"/>
              <a:buFont typeface="Alfa Slab One"/>
              <a:buNone/>
            </a:pPr>
            <a:r>
              <a:rPr lang="en-US" sz="5500">
                <a:solidFill>
                  <a:srgbClr val="0E0E0E"/>
                </a:solidFill>
                <a:latin typeface="Alfa Slab One"/>
                <a:ea typeface="Alfa Slab One"/>
                <a:cs typeface="Alfa Slab One"/>
                <a:sym typeface="Alfa Slab One"/>
              </a:rPr>
              <a:t>PYDANTICAI</a:t>
            </a:r>
            <a:endParaRPr b="0" i="0" sz="5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9145143" y="3695700"/>
            <a:ext cx="6096762" cy="6096000"/>
          </a:xfrm>
          <a:prstGeom prst="roundRect">
            <a:avLst>
              <a:gd fmla="val 2083350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11380622" y="4940300"/>
            <a:ext cx="1625803" cy="1625600"/>
          </a:xfrm>
          <a:prstGeom prst="roundRect">
            <a:avLst>
              <a:gd fmla="val 78188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9297562" y="6870700"/>
            <a:ext cx="5791924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9195925" y="5016450"/>
            <a:ext cx="5995200" cy="10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4800"/>
              <a:buFont typeface="Alfa Slab One"/>
              <a:buNone/>
            </a:pPr>
            <a:r>
              <a:rPr lang="en-US" sz="5500">
                <a:solidFill>
                  <a:srgbClr val="0E0E0E"/>
                </a:solidFill>
                <a:latin typeface="Alfa Slab One"/>
                <a:ea typeface="Alfa Slab One"/>
                <a:cs typeface="Alfa Slab One"/>
                <a:sym typeface="Alfa Slab One"/>
              </a:rPr>
              <a:t>CHROMADB</a:t>
            </a:r>
            <a:endParaRPr b="0" i="0" sz="5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16169121" y="3695700"/>
            <a:ext cx="6096762" cy="6096000"/>
          </a:xfrm>
          <a:prstGeom prst="roundRect">
            <a:avLst>
              <a:gd fmla="val 2083350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16321540" y="6870700"/>
            <a:ext cx="5791924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16960951" y="5016450"/>
            <a:ext cx="4248300" cy="18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4800"/>
              <a:buFont typeface="Alfa Slab One"/>
              <a:buNone/>
            </a:pPr>
            <a:r>
              <a:rPr lang="en-US" sz="5500">
                <a:solidFill>
                  <a:srgbClr val="0E0E0E"/>
                </a:solidFill>
                <a:latin typeface="Alfa Slab One"/>
                <a:ea typeface="Alfa Slab One"/>
                <a:cs typeface="Alfa Slab One"/>
                <a:sym typeface="Alfa Slab One"/>
              </a:rPr>
              <a:t>PYDANTIC-EVALS</a:t>
            </a:r>
            <a:endParaRPr b="0" i="0" sz="5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2688699" y="6385800"/>
            <a:ext cx="4961700" cy="19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3200"/>
              <a:buFont typeface="Poppins"/>
              <a:buNone/>
            </a:pPr>
            <a:r>
              <a:rPr lang="en-US" sz="3200">
                <a:solidFill>
                  <a:srgbClr val="0E0E0E"/>
                </a:solidFill>
                <a:latin typeface="Poppins"/>
                <a:ea typeface="Poppins"/>
                <a:cs typeface="Poppins"/>
                <a:sym typeface="Poppins"/>
              </a:rPr>
              <a:t>All LLM agents with</a:t>
            </a:r>
            <a:endParaRPr sz="3200">
              <a:solidFill>
                <a:srgbClr val="0E0E0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3200"/>
              <a:buFont typeface="Poppins"/>
              <a:buNone/>
            </a:pPr>
            <a:r>
              <a:rPr lang="en-US" sz="3200">
                <a:solidFill>
                  <a:srgbClr val="0E0E0E"/>
                </a:solidFill>
                <a:latin typeface="Poppins"/>
                <a:ea typeface="Poppins"/>
                <a:cs typeface="Poppins"/>
                <a:sym typeface="Poppins"/>
              </a:rPr>
              <a:t>structured outputs and</a:t>
            </a:r>
            <a:endParaRPr sz="3200">
              <a:solidFill>
                <a:srgbClr val="0E0E0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3200"/>
              <a:buFont typeface="Poppins"/>
              <a:buNone/>
            </a:pPr>
            <a:r>
              <a:rPr lang="en-US" sz="3200">
                <a:solidFill>
                  <a:srgbClr val="0E0E0E"/>
                </a:solidFill>
                <a:latin typeface="Poppins"/>
                <a:ea typeface="Poppins"/>
                <a:cs typeface="Poppins"/>
                <a:sym typeface="Poppins"/>
              </a:rPr>
              <a:t>agent-as-tool pattern</a:t>
            </a:r>
            <a:endParaRPr sz="3200">
              <a:solidFill>
                <a:srgbClr val="0E0E0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9563874" y="6095850"/>
            <a:ext cx="5259300" cy="19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3200"/>
              <a:buFont typeface="Poppins"/>
              <a:buNone/>
            </a:pPr>
            <a:r>
              <a:rPr lang="en-US" sz="3200">
                <a:solidFill>
                  <a:srgbClr val="0E0E0E"/>
                </a:solidFill>
                <a:latin typeface="Poppins"/>
                <a:ea typeface="Poppins"/>
                <a:cs typeface="Poppins"/>
                <a:sym typeface="Poppins"/>
              </a:rPr>
              <a:t>Vector database storing</a:t>
            </a:r>
            <a:endParaRPr sz="3200">
              <a:solidFill>
                <a:srgbClr val="0E0E0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3200"/>
              <a:buFont typeface="Poppins"/>
              <a:buNone/>
            </a:pPr>
            <a:r>
              <a:rPr lang="en-US" sz="3200">
                <a:solidFill>
                  <a:srgbClr val="0E0E0E"/>
                </a:solidFill>
                <a:latin typeface="Poppins"/>
                <a:ea typeface="Poppins"/>
                <a:cs typeface="Poppins"/>
                <a:sym typeface="Poppins"/>
              </a:rPr>
              <a:t>1,056 chunks from 4</a:t>
            </a:r>
            <a:endParaRPr sz="3200">
              <a:solidFill>
                <a:srgbClr val="0E0E0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3200"/>
              <a:buFont typeface="Poppins"/>
              <a:buNone/>
            </a:pPr>
            <a:r>
              <a:rPr lang="en-US" sz="3200">
                <a:solidFill>
                  <a:srgbClr val="0E0E0E"/>
                </a:solidFill>
                <a:latin typeface="Poppins"/>
                <a:ea typeface="Poppins"/>
                <a:cs typeface="Poppins"/>
                <a:sym typeface="Poppins"/>
              </a:rPr>
              <a:t>classic detective novels</a:t>
            </a:r>
            <a:endParaRPr sz="3200">
              <a:solidFill>
                <a:srgbClr val="0E0E0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16895961" y="6895950"/>
            <a:ext cx="4643100" cy="19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3200"/>
              <a:buFont typeface="Poppins"/>
              <a:buNone/>
            </a:pPr>
            <a:r>
              <a:rPr lang="en-US" sz="3200">
                <a:solidFill>
                  <a:srgbClr val="0E0E0E"/>
                </a:solidFill>
                <a:latin typeface="Poppins"/>
                <a:ea typeface="Poppins"/>
                <a:cs typeface="Poppins"/>
                <a:sym typeface="Poppins"/>
              </a:rPr>
              <a:t>Evaluation framework</a:t>
            </a:r>
            <a:endParaRPr sz="3200">
              <a:solidFill>
                <a:srgbClr val="0E0E0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3200"/>
              <a:buFont typeface="Poppins"/>
              <a:buNone/>
            </a:pPr>
            <a:r>
              <a:rPr lang="en-US" sz="3200">
                <a:solidFill>
                  <a:srgbClr val="0E0E0E"/>
                </a:solidFill>
                <a:latin typeface="Poppins"/>
                <a:ea typeface="Poppins"/>
                <a:cs typeface="Poppins"/>
                <a:sym typeface="Poppins"/>
              </a:rPr>
              <a:t>with 12 test cases and</a:t>
            </a:r>
            <a:endParaRPr sz="3200">
              <a:solidFill>
                <a:srgbClr val="0E0E0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3200"/>
              <a:buFont typeface="Poppins"/>
              <a:buNone/>
            </a:pPr>
            <a:r>
              <a:rPr lang="en-US" sz="3200">
                <a:solidFill>
                  <a:srgbClr val="0E0E0E"/>
                </a:solidFill>
                <a:latin typeface="Poppins"/>
                <a:ea typeface="Poppins"/>
                <a:cs typeface="Poppins"/>
                <a:sym typeface="Poppins"/>
              </a:rPr>
              <a:t>3 evaluator types</a:t>
            </a:r>
            <a:endParaRPr sz="3200">
              <a:solidFill>
                <a:srgbClr val="0E0E0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2847975" y="10371725"/>
            <a:ext cx="4643100" cy="10794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3200"/>
              <a:buFont typeface="Poppins"/>
              <a:buNone/>
            </a:pPr>
            <a:r>
              <a:rPr lang="en-US" sz="3200">
                <a:solidFill>
                  <a:srgbClr val="0E0E0E"/>
                </a:solidFill>
                <a:latin typeface="Poppins"/>
                <a:ea typeface="Poppins"/>
                <a:cs typeface="Poppins"/>
                <a:sym typeface="Poppins"/>
              </a:rPr>
              <a:t>claude-sonnet-4-6 via UCF LiteLLM Proxy</a:t>
            </a:r>
            <a:endParaRPr sz="3200">
              <a:solidFill>
                <a:srgbClr val="0E0E0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3200"/>
              <a:buFont typeface="Poppins"/>
              <a:buNone/>
            </a:pPr>
            <a:r>
              <a:t/>
            </a:r>
            <a:endParaRPr sz="3200">
              <a:solidFill>
                <a:srgbClr val="0E0E0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9871975" y="10371725"/>
            <a:ext cx="4643100" cy="10794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3200"/>
              <a:buFont typeface="Poppins"/>
              <a:buNone/>
            </a:pPr>
            <a:r>
              <a:rPr lang="en-US" sz="3200">
                <a:solidFill>
                  <a:srgbClr val="0E0E0E"/>
                </a:solidFill>
                <a:latin typeface="Poppins"/>
                <a:ea typeface="Poppins"/>
                <a:cs typeface="Poppins"/>
                <a:sym typeface="Poppins"/>
              </a:rPr>
              <a:t>sentence-transformers all-MiniLM-L6-v2</a:t>
            </a:r>
            <a:endParaRPr sz="3200">
              <a:solidFill>
                <a:srgbClr val="0E0E0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16895975" y="10371725"/>
            <a:ext cx="4643100" cy="1252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3200"/>
              <a:buFont typeface="Poppins"/>
              <a:buNone/>
            </a:pPr>
            <a:r>
              <a:rPr lang="en-US" sz="3200">
                <a:solidFill>
                  <a:srgbClr val="0E0E0E"/>
                </a:solidFill>
                <a:latin typeface="Poppins"/>
                <a:ea typeface="Poppins"/>
                <a:cs typeface="Poppins"/>
                <a:sym typeface="Poppins"/>
              </a:rPr>
              <a:t>Python 3.11 + httpx + python-dotenv</a:t>
            </a:r>
            <a:endParaRPr sz="3200">
              <a:solidFill>
                <a:srgbClr val="0E0E0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E7D6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/>
          <p:nvPr/>
        </p:nvSpPr>
        <p:spPr>
          <a:xfrm>
            <a:off x="254032" y="254000"/>
            <a:ext cx="23878984" cy="13208000"/>
          </a:xfrm>
          <a:prstGeom prst="rect">
            <a:avLst/>
          </a:prstGeom>
          <a:solidFill>
            <a:srgbClr val="A7B7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34" name="Google Shape;13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032" y="254000"/>
            <a:ext cx="23878984" cy="1320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35" name="Google Shape;13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063" y="508000"/>
            <a:ext cx="23370921" cy="127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7"/>
          <p:cNvSpPr/>
          <p:nvPr/>
        </p:nvSpPr>
        <p:spPr>
          <a:xfrm>
            <a:off x="23370921" y="10515600"/>
            <a:ext cx="1016127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37" name="Google Shape;137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49594" y="1295400"/>
            <a:ext cx="4712289" cy="349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7"/>
          <p:cNvSpPr/>
          <p:nvPr/>
        </p:nvSpPr>
        <p:spPr>
          <a:xfrm>
            <a:off x="5398175" y="3048000"/>
            <a:ext cx="13603400" cy="763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5296563" y="3048000"/>
            <a:ext cx="13806600" cy="69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4800"/>
              <a:buFont typeface="Alfa Slab One"/>
              <a:buNone/>
            </a:pPr>
            <a:r>
              <a:rPr lang="en-US" sz="8000">
                <a:solidFill>
                  <a:srgbClr val="0E0E0E"/>
                </a:solidFill>
                <a:latin typeface="Alfa Slab One"/>
                <a:ea typeface="Alfa Slab One"/>
                <a:cs typeface="Alfa Slab One"/>
                <a:sym typeface="Alfa Slab One"/>
              </a:rPr>
              <a:t>YOU TYPE A CRIME SCENE. FOUR AGENTS INVESTIGATE. ONE NOIR STORY COMES OUT THE OTHER END.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11094601" y="10058400"/>
            <a:ext cx="102210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3600"/>
              <a:buFont typeface="Alfa Slab One"/>
              <a:buNone/>
            </a:pPr>
            <a:r>
              <a:rPr lang="en-US" sz="3600">
                <a:solidFill>
                  <a:srgbClr val="0E0E0E"/>
                </a:solidFill>
                <a:latin typeface="Alfa Slab One"/>
                <a:ea typeface="Alfa Slab One"/>
                <a:cs typeface="Alfa Slab One"/>
                <a:sym typeface="Alfa Slab One"/>
              </a:rPr>
              <a:t>THE NOIR MYSTERY STORY ENGINE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E7D6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"/>
          <p:cNvSpPr/>
          <p:nvPr/>
        </p:nvSpPr>
        <p:spPr>
          <a:xfrm>
            <a:off x="254032" y="254000"/>
            <a:ext cx="23878984" cy="13208000"/>
          </a:xfrm>
          <a:prstGeom prst="rect">
            <a:avLst/>
          </a:prstGeom>
          <a:solidFill>
            <a:srgbClr val="A7B7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47" name="Google Shape;14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032" y="254000"/>
            <a:ext cx="23878984" cy="1320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8" name="Google Shape;14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063" y="508000"/>
            <a:ext cx="23370921" cy="127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9"/>
          <p:cNvSpPr/>
          <p:nvPr/>
        </p:nvSpPr>
        <p:spPr>
          <a:xfrm>
            <a:off x="23370921" y="10515600"/>
            <a:ext cx="1016127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1778226" y="876300"/>
            <a:ext cx="12944100" cy="17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727"/>
              </a:buClr>
              <a:buSzPts val="8000"/>
              <a:buFont typeface="Alfa Slab One"/>
              <a:buNone/>
            </a:pPr>
            <a:r>
              <a:rPr lang="en-US" sz="8000">
                <a:solidFill>
                  <a:srgbClr val="272727"/>
                </a:solidFill>
                <a:latin typeface="Alfa Slab One"/>
                <a:ea typeface="Alfa Slab One"/>
                <a:cs typeface="Alfa Slab One"/>
                <a:sym typeface="Alfa Slab One"/>
              </a:rPr>
              <a:t>EVALUATION RESULTS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1778222" y="2489200"/>
            <a:ext cx="20843305" cy="1041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1778222" y="2489200"/>
            <a:ext cx="6439705" cy="10414000"/>
          </a:xfrm>
          <a:prstGeom prst="roundRect">
            <a:avLst>
              <a:gd fmla="val 3124" name="adj"/>
            </a:avLst>
          </a:prstGeom>
          <a:noFill/>
          <a:ln cap="flat" cmpd="sng" w="508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1778225" y="4876800"/>
            <a:ext cx="6439800" cy="10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lfa Slab One"/>
              <a:buNone/>
            </a:pPr>
            <a:r>
              <a:rPr lang="en-US" sz="3500">
                <a:latin typeface="Alfa Slab One"/>
                <a:ea typeface="Alfa Slab One"/>
                <a:cs typeface="Alfa Slab One"/>
                <a:sym typeface="Alfa Slab One"/>
              </a:rPr>
              <a:t>Deterministic evaluator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2235475" y="6019800"/>
            <a:ext cx="5660700" cy="53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2545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4500"/>
              <a:buFont typeface="Poppins"/>
              <a:buChar char="•"/>
            </a:pPr>
            <a:r>
              <a:rPr lang="en-US" sz="4500">
                <a:solidFill>
                  <a:srgbClr val="0E0E0E"/>
                </a:solidFill>
                <a:latin typeface="Poppins"/>
                <a:ea typeface="Poppins"/>
                <a:cs typeface="Poppins"/>
                <a:sym typeface="Poppins"/>
              </a:rPr>
              <a:t>Checks title exists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25450" lvl="1" marL="685800" marR="0" rtl="0" algn="l">
              <a:lnSpc>
                <a:spcPct val="100000"/>
              </a:lnSpc>
              <a:spcBef>
                <a:spcPts val="4000"/>
              </a:spcBef>
              <a:spcAft>
                <a:spcPts val="0"/>
              </a:spcAft>
              <a:buClr>
                <a:srgbClr val="0E0E0E"/>
              </a:buClr>
              <a:buSzPts val="4500"/>
              <a:buFont typeface="Poppins"/>
              <a:buChar char="•"/>
            </a:pPr>
            <a:r>
              <a:rPr lang="en-US" sz="4500">
                <a:solidFill>
                  <a:srgbClr val="0E0E0E"/>
                </a:solidFill>
                <a:latin typeface="Poppins"/>
                <a:ea typeface="Poppins"/>
                <a:cs typeface="Poppins"/>
                <a:sym typeface="Poppins"/>
              </a:rPr>
              <a:t>Checks suspect named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25450" lvl="1" marL="685800" marR="0" rtl="0" algn="l">
              <a:lnSpc>
                <a:spcPct val="100000"/>
              </a:lnSpc>
              <a:spcBef>
                <a:spcPts val="4000"/>
              </a:spcBef>
              <a:spcAft>
                <a:spcPts val="0"/>
              </a:spcAft>
              <a:buClr>
                <a:srgbClr val="0E0E0E"/>
              </a:buClr>
              <a:buSzPts val="4500"/>
              <a:buFont typeface="Poppins"/>
              <a:buChar char="•"/>
            </a:pPr>
            <a:r>
              <a:rPr lang="en-US" sz="4500">
                <a:solidFill>
                  <a:srgbClr val="0E0E0E"/>
                </a:solidFill>
                <a:latin typeface="Poppins"/>
                <a:ea typeface="Poppins"/>
                <a:cs typeface="Poppins"/>
                <a:sym typeface="Poppins"/>
              </a:rPr>
              <a:t>Checks story length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2800700" y="11607800"/>
            <a:ext cx="4394749" cy="10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4800"/>
              <a:buFont typeface="Alfa Slab One"/>
              <a:buNone/>
            </a:pPr>
            <a:r>
              <a:rPr lang="en-US" sz="4800">
                <a:solidFill>
                  <a:srgbClr val="0E0E0E"/>
                </a:solidFill>
                <a:latin typeface="Alfa Slab One"/>
                <a:ea typeface="Alfa Slab One"/>
                <a:cs typeface="Alfa Slab One"/>
                <a:sym typeface="Alfa Slab One"/>
              </a:rPr>
              <a:t>Score</a:t>
            </a:r>
            <a:r>
              <a:rPr lang="en-US" sz="4800">
                <a:solidFill>
                  <a:srgbClr val="0E0E0E"/>
                </a:solidFill>
                <a:latin typeface="Alfa Slab One"/>
                <a:ea typeface="Alfa Slab One"/>
                <a:cs typeface="Alfa Slab One"/>
                <a:sym typeface="Alfa Slab One"/>
              </a:rPr>
              <a:t>: 1.0/1.0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8980022" y="2489200"/>
            <a:ext cx="6439705" cy="10414000"/>
          </a:xfrm>
          <a:prstGeom prst="roundRect">
            <a:avLst>
              <a:gd fmla="val 3124" name="adj"/>
            </a:avLst>
          </a:prstGeom>
          <a:noFill/>
          <a:ln cap="flat" cmpd="sng" w="508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9437271" y="4876800"/>
            <a:ext cx="5660700" cy="10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lfa Slab One"/>
              <a:buNone/>
            </a:pPr>
            <a:r>
              <a:rPr lang="en-US" sz="3500">
                <a:latin typeface="Alfa Slab One"/>
                <a:ea typeface="Alfa Slab One"/>
                <a:cs typeface="Alfa Slab One"/>
                <a:sym typeface="Alfa Slab One"/>
              </a:rPr>
              <a:t>Behavioral evaluator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9437280" y="6019800"/>
            <a:ext cx="5660674" cy="5418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2545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4500"/>
              <a:buFont typeface="Poppins"/>
              <a:buChar char="•"/>
            </a:pPr>
            <a:r>
              <a:rPr lang="en-US" sz="4500">
                <a:solidFill>
                  <a:srgbClr val="0E0E0E"/>
                </a:solidFill>
                <a:latin typeface="Poppins"/>
                <a:ea typeface="Poppins"/>
                <a:cs typeface="Poppins"/>
                <a:sym typeface="Poppins"/>
              </a:rPr>
              <a:t>Verifies 3+ clues found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25450" lvl="1" marL="685800" marR="0" rtl="0" algn="l">
              <a:lnSpc>
                <a:spcPct val="100000"/>
              </a:lnSpc>
              <a:spcBef>
                <a:spcPts val="4000"/>
              </a:spcBef>
              <a:spcAft>
                <a:spcPts val="0"/>
              </a:spcAft>
              <a:buClr>
                <a:srgbClr val="0E0E0E"/>
              </a:buClr>
              <a:buSzPts val="4500"/>
              <a:buFont typeface="Poppins"/>
              <a:buChar char="•"/>
            </a:pPr>
            <a:r>
              <a:rPr lang="en-US" sz="4500">
                <a:solidFill>
                  <a:srgbClr val="0E0E0E"/>
                </a:solidFill>
                <a:latin typeface="Poppins"/>
                <a:ea typeface="Poppins"/>
                <a:cs typeface="Poppins"/>
                <a:sym typeface="Poppins"/>
              </a:rPr>
              <a:t>Checks tool was called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25450" lvl="1" marL="685800" marR="0" rtl="0" algn="l">
              <a:lnSpc>
                <a:spcPct val="100000"/>
              </a:lnSpc>
              <a:spcBef>
                <a:spcPts val="4000"/>
              </a:spcBef>
              <a:spcAft>
                <a:spcPts val="0"/>
              </a:spcAft>
              <a:buClr>
                <a:srgbClr val="0E0E0E"/>
              </a:buClr>
              <a:buSzPts val="4500"/>
              <a:buFont typeface="Poppins"/>
              <a:buChar char="•"/>
            </a:pPr>
            <a:r>
              <a:rPr lang="en-US" sz="4500">
                <a:solidFill>
                  <a:srgbClr val="0E0E0E"/>
                </a:solidFill>
                <a:latin typeface="Poppins"/>
                <a:ea typeface="Poppins"/>
                <a:cs typeface="Poppins"/>
                <a:sym typeface="Poppins"/>
              </a:rPr>
              <a:t>Validates output model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16175472" y="2489200"/>
            <a:ext cx="6439800" cy="10413900"/>
          </a:xfrm>
          <a:prstGeom prst="roundRect">
            <a:avLst>
              <a:gd fmla="val 3124" name="adj"/>
            </a:avLst>
          </a:prstGeom>
          <a:noFill/>
          <a:ln cap="flat" cmpd="sng" w="508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16639075" y="4876800"/>
            <a:ext cx="5423700" cy="10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lfa Slab One"/>
              <a:buNone/>
            </a:pPr>
            <a:r>
              <a:rPr lang="en-US" sz="3500">
                <a:latin typeface="Alfa Slab One"/>
                <a:ea typeface="Alfa Slab One"/>
                <a:cs typeface="Alfa Slab One"/>
                <a:sym typeface="Alfa Slab One"/>
              </a:rPr>
              <a:t>LLM judge evaluator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16407175" y="6003750"/>
            <a:ext cx="5976300" cy="54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2545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4500"/>
              <a:buFont typeface="Poppins"/>
              <a:buChar char="•"/>
            </a:pPr>
            <a:r>
              <a:rPr lang="en-US" sz="4500">
                <a:solidFill>
                  <a:srgbClr val="0E0E0E"/>
                </a:solidFill>
                <a:latin typeface="Poppins"/>
                <a:ea typeface="Poppins"/>
                <a:cs typeface="Poppins"/>
                <a:sym typeface="Poppins"/>
              </a:rPr>
              <a:t>Claude scores the story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25450" lvl="1" marL="685800" marR="0" rtl="0" algn="l">
              <a:lnSpc>
                <a:spcPct val="100000"/>
              </a:lnSpc>
              <a:spcBef>
                <a:spcPts val="4000"/>
              </a:spcBef>
              <a:spcAft>
                <a:spcPts val="0"/>
              </a:spcAft>
              <a:buClr>
                <a:srgbClr val="0E0E0E"/>
              </a:buClr>
              <a:buSzPts val="4500"/>
              <a:buFont typeface="Poppins"/>
              <a:buChar char="•"/>
            </a:pPr>
            <a:r>
              <a:rPr lang="en-US" sz="4500">
                <a:solidFill>
                  <a:srgbClr val="0E0E0E"/>
                </a:solidFill>
                <a:latin typeface="Poppins"/>
                <a:ea typeface="Poppins"/>
                <a:cs typeface="Poppins"/>
                <a:sym typeface="Poppins"/>
              </a:rPr>
              <a:t>Checks authentic noir style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25450" lvl="1" marL="685800" marR="0" rtl="0" algn="l">
              <a:lnSpc>
                <a:spcPct val="100000"/>
              </a:lnSpc>
              <a:spcBef>
                <a:spcPts val="4000"/>
              </a:spcBef>
              <a:spcAft>
                <a:spcPts val="0"/>
              </a:spcAft>
              <a:buClr>
                <a:srgbClr val="0E0E0E"/>
              </a:buClr>
              <a:buSzPts val="4500"/>
              <a:buFont typeface="Poppins"/>
              <a:buChar char="•"/>
            </a:pPr>
            <a:r>
              <a:rPr lang="en-US" sz="4500">
                <a:solidFill>
                  <a:srgbClr val="0E0E0E"/>
                </a:solidFill>
                <a:latin typeface="Poppins"/>
                <a:ea typeface="Poppins"/>
                <a:cs typeface="Poppins"/>
                <a:sym typeface="Poppins"/>
              </a:rPr>
              <a:t>Rates dramatic verdict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16982022" y="11607800"/>
            <a:ext cx="4839305" cy="10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4800"/>
              <a:buFont typeface="Alfa Slab One"/>
              <a:buNone/>
            </a:pPr>
            <a:r>
              <a:rPr lang="en-US" sz="4800">
                <a:solidFill>
                  <a:srgbClr val="0E0E0E"/>
                </a:solidFill>
                <a:latin typeface="Alfa Slab One"/>
                <a:ea typeface="Alfa Slab One"/>
                <a:cs typeface="Alfa Slab One"/>
                <a:sym typeface="Alfa Slab One"/>
              </a:rPr>
              <a:t>Score: 0.43/1.0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2235473" y="3223800"/>
            <a:ext cx="5660700" cy="10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lfa Slab One"/>
              <a:buNone/>
            </a:pPr>
            <a:r>
              <a:rPr lang="en-US" sz="3800">
                <a:latin typeface="Alfa Slab One"/>
                <a:ea typeface="Alfa Slab One"/>
                <a:cs typeface="Alfa Slab One"/>
                <a:sym typeface="Alfa Slab One"/>
              </a:rPr>
              <a:t>🔍 STRUCTURAL CHECK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9437279" y="3223800"/>
            <a:ext cx="5660700" cy="10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lfa Slab One"/>
              <a:buNone/>
            </a:pPr>
            <a:r>
              <a:rPr lang="en-US" sz="3800">
                <a:latin typeface="Alfa Slab One"/>
                <a:ea typeface="Alfa Slab One"/>
                <a:cs typeface="Alfa Slab One"/>
                <a:sym typeface="Alfa Slab One"/>
              </a:rPr>
              <a:t>🕵️CLUES DISCOVERED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17388523" y="3223800"/>
            <a:ext cx="4432800" cy="10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lfa Slab One"/>
              <a:buNone/>
            </a:pPr>
            <a:r>
              <a:rPr lang="en-US" sz="3800">
                <a:latin typeface="Alfa Slab One"/>
                <a:ea typeface="Alfa Slab One"/>
                <a:cs typeface="Alfa Slab One"/>
                <a:sym typeface="Alfa Slab One"/>
              </a:rPr>
              <a:t>⚖️ NOIR QUALITY JUDGE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10002525" y="11607850"/>
            <a:ext cx="4394700" cy="10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4800"/>
              <a:buFont typeface="Alfa Slab One"/>
              <a:buNone/>
            </a:pPr>
            <a:r>
              <a:rPr lang="en-US" sz="4800">
                <a:solidFill>
                  <a:srgbClr val="0E0E0E"/>
                </a:solidFill>
                <a:latin typeface="Alfa Slab One"/>
                <a:ea typeface="Alfa Slab One"/>
                <a:cs typeface="Alfa Slab One"/>
                <a:sym typeface="Alfa Slab One"/>
              </a:rPr>
              <a:t>Score: 1.0/1.0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E7D6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"/>
          <p:cNvSpPr/>
          <p:nvPr/>
        </p:nvSpPr>
        <p:spPr>
          <a:xfrm>
            <a:off x="254032" y="254000"/>
            <a:ext cx="23878984" cy="13208000"/>
          </a:xfrm>
          <a:prstGeom prst="rect">
            <a:avLst/>
          </a:prstGeom>
          <a:solidFill>
            <a:srgbClr val="CB79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73" name="Google Shape;17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032" y="254000"/>
            <a:ext cx="23878984" cy="1320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74" name="Google Shape;17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063" y="508000"/>
            <a:ext cx="23370921" cy="127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5"/>
          <p:cNvSpPr/>
          <p:nvPr/>
        </p:nvSpPr>
        <p:spPr>
          <a:xfrm>
            <a:off x="23370921" y="10515600"/>
            <a:ext cx="1016127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76" name="Google Shape;17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523340" y="10820400"/>
            <a:ext cx="711289" cy="259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5"/>
          <p:cNvSpPr/>
          <p:nvPr/>
        </p:nvSpPr>
        <p:spPr>
          <a:xfrm>
            <a:off x="2502213" y="1714500"/>
            <a:ext cx="1016127" cy="1016000"/>
          </a:xfrm>
          <a:prstGeom prst="roundRect">
            <a:avLst>
              <a:gd fmla="val 125100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2400651" y="1023950"/>
            <a:ext cx="8078100" cy="10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4800"/>
              <a:buFont typeface="Alfa Slab One"/>
              <a:buNone/>
            </a:pPr>
            <a:r>
              <a:rPr lang="en-US" sz="4800">
                <a:solidFill>
                  <a:srgbClr val="0E0E0E"/>
                </a:solidFill>
                <a:latin typeface="Alfa Slab One"/>
                <a:ea typeface="Alfa Slab One"/>
                <a:cs typeface="Alfa Slab One"/>
                <a:sym typeface="Alfa Slab One"/>
              </a:rPr>
              <a:t>RECORDED DEMO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p5" title="DEMO-NOIR-MYSTERY-STORY.mov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77925" y="2065250"/>
            <a:ext cx="19798522" cy="1021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E7D6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7"/>
          <p:cNvSpPr/>
          <p:nvPr/>
        </p:nvSpPr>
        <p:spPr>
          <a:xfrm>
            <a:off x="254032" y="254000"/>
            <a:ext cx="23878984" cy="13208000"/>
          </a:xfrm>
          <a:prstGeom prst="rect">
            <a:avLst/>
          </a:prstGeom>
          <a:solidFill>
            <a:srgbClr val="CB79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86" name="Google Shape;18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032" y="254000"/>
            <a:ext cx="23878985" cy="1320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87" name="Google Shape;18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063" y="508000"/>
            <a:ext cx="23370921" cy="127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7"/>
          <p:cNvSpPr/>
          <p:nvPr/>
        </p:nvSpPr>
        <p:spPr>
          <a:xfrm>
            <a:off x="23370921" y="10515600"/>
            <a:ext cx="1016127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7"/>
          <p:cNvSpPr/>
          <p:nvPr/>
        </p:nvSpPr>
        <p:spPr>
          <a:xfrm>
            <a:off x="1308264" y="3086100"/>
            <a:ext cx="6604826" cy="36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7"/>
          <p:cNvSpPr/>
          <p:nvPr/>
        </p:nvSpPr>
        <p:spPr>
          <a:xfrm>
            <a:off x="2362489" y="3778250"/>
            <a:ext cx="1392900" cy="27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727"/>
              </a:buClr>
              <a:buSzPts val="12800"/>
              <a:buFont typeface="Alfa Slab One"/>
              <a:buNone/>
            </a:pPr>
            <a:r>
              <a:rPr b="0" i="0" lang="en-US" sz="12800" u="none" cap="none" strike="noStrike">
                <a:solidFill>
                  <a:srgbClr val="272727"/>
                </a:solidFill>
                <a:latin typeface="Alfa Slab One"/>
                <a:ea typeface="Alfa Slab One"/>
                <a:cs typeface="Alfa Slab One"/>
                <a:sym typeface="Alfa Slab One"/>
              </a:rPr>
              <a:t>1</a:t>
            </a:r>
            <a:endParaRPr b="0" i="0" sz="1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7"/>
          <p:cNvSpPr/>
          <p:nvPr/>
        </p:nvSpPr>
        <p:spPr>
          <a:xfrm>
            <a:off x="2362495" y="3086100"/>
            <a:ext cx="5550594" cy="36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7"/>
          <p:cNvSpPr/>
          <p:nvPr/>
        </p:nvSpPr>
        <p:spPr>
          <a:xfrm>
            <a:off x="3416720" y="3086100"/>
            <a:ext cx="5753700" cy="18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4800"/>
              <a:buFont typeface="Alfa Slab One"/>
              <a:buNone/>
            </a:pPr>
            <a:r>
              <a:rPr lang="en-US" sz="4800">
                <a:solidFill>
                  <a:srgbClr val="0E0E0E"/>
                </a:solidFill>
                <a:latin typeface="Alfa Slab One"/>
                <a:ea typeface="Alfa Slab One"/>
                <a:cs typeface="Alfa Slab One"/>
                <a:sym typeface="Alfa Slab One"/>
              </a:rPr>
              <a:t>TUNE THE LLM JUDGE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7"/>
          <p:cNvSpPr/>
          <p:nvPr/>
        </p:nvSpPr>
        <p:spPr>
          <a:xfrm>
            <a:off x="3416725" y="4864100"/>
            <a:ext cx="5686200" cy="23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3200"/>
              <a:buFont typeface="Poppins"/>
              <a:buNone/>
            </a:pPr>
            <a:r>
              <a:rPr lang="en-US" sz="3200">
                <a:solidFill>
                  <a:srgbClr val="0E0E0E"/>
                </a:solidFill>
                <a:latin typeface="Poppins"/>
                <a:ea typeface="Poppins"/>
                <a:cs typeface="Poppins"/>
                <a:sym typeface="Poppins"/>
              </a:rPr>
              <a:t>The NoirQualityJudge scored 0.43 on average. We'd give it example outputs so it judges more reliably.</a:t>
            </a:r>
            <a:endParaRPr sz="3200">
              <a:solidFill>
                <a:srgbClr val="0E0E0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4" name="Google Shape;194;p17"/>
          <p:cNvSpPr/>
          <p:nvPr/>
        </p:nvSpPr>
        <p:spPr>
          <a:xfrm>
            <a:off x="1308264" y="7505700"/>
            <a:ext cx="6604826" cy="42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7"/>
          <p:cNvSpPr/>
          <p:nvPr/>
        </p:nvSpPr>
        <p:spPr>
          <a:xfrm>
            <a:off x="2362489" y="8502650"/>
            <a:ext cx="1558200" cy="27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727"/>
              </a:buClr>
              <a:buSzPts val="12800"/>
              <a:buFont typeface="Alfa Slab One"/>
              <a:buNone/>
            </a:pPr>
            <a:r>
              <a:rPr b="0" i="0" lang="en-US" sz="12800" u="none" cap="none" strike="noStrike">
                <a:solidFill>
                  <a:srgbClr val="272727"/>
                </a:solidFill>
                <a:latin typeface="Alfa Slab One"/>
                <a:ea typeface="Alfa Slab One"/>
                <a:cs typeface="Alfa Slab One"/>
                <a:sym typeface="Alfa Slab One"/>
              </a:rPr>
              <a:t>3</a:t>
            </a:r>
            <a:endParaRPr b="0" i="0" sz="1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7"/>
          <p:cNvSpPr/>
          <p:nvPr/>
        </p:nvSpPr>
        <p:spPr>
          <a:xfrm>
            <a:off x="2527616" y="7505700"/>
            <a:ext cx="5385473" cy="42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7"/>
          <p:cNvSpPr/>
          <p:nvPr/>
        </p:nvSpPr>
        <p:spPr>
          <a:xfrm>
            <a:off x="3581841" y="7505700"/>
            <a:ext cx="5588700" cy="18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4800"/>
              <a:buFont typeface="Alfa Slab One"/>
              <a:buNone/>
            </a:pPr>
            <a:r>
              <a:rPr lang="en-US" sz="4800">
                <a:solidFill>
                  <a:srgbClr val="0E0E0E"/>
                </a:solidFill>
                <a:latin typeface="Alfa Slab One"/>
                <a:ea typeface="Alfa Slab One"/>
                <a:cs typeface="Alfa Slab One"/>
                <a:sym typeface="Alfa Slab One"/>
              </a:rPr>
              <a:t>EXPAND THE CORPUS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7"/>
          <p:cNvSpPr/>
          <p:nvPr/>
        </p:nvSpPr>
        <p:spPr>
          <a:xfrm>
            <a:off x="3581841" y="9283700"/>
            <a:ext cx="5520900" cy="25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3200"/>
              <a:buFont typeface="Poppins"/>
              <a:buNone/>
            </a:pPr>
            <a:r>
              <a:rPr lang="en-US" sz="3200">
                <a:solidFill>
                  <a:srgbClr val="0E0E0E"/>
                </a:solidFill>
                <a:latin typeface="Poppins"/>
                <a:ea typeface="Poppins"/>
                <a:cs typeface="Poppins"/>
                <a:sym typeface="Poppins"/>
              </a:rPr>
              <a:t>Add Dashiell Hammett and Raymond Chandler for richer noir style retrieval.</a:t>
            </a:r>
            <a:endParaRPr sz="3200">
              <a:solidFill>
                <a:srgbClr val="0E0E0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9" name="Google Shape;199;p17"/>
          <p:cNvSpPr/>
          <p:nvPr/>
        </p:nvSpPr>
        <p:spPr>
          <a:xfrm>
            <a:off x="14839552" y="8184900"/>
            <a:ext cx="1672500" cy="27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727"/>
              </a:buClr>
              <a:buSzPts val="12800"/>
              <a:buFont typeface="Alfa Slab One"/>
              <a:buNone/>
            </a:pPr>
            <a:r>
              <a:rPr b="0" i="0" lang="en-US" sz="12800" u="none" cap="none" strike="noStrike">
                <a:solidFill>
                  <a:srgbClr val="272727"/>
                </a:solidFill>
                <a:latin typeface="Alfa Slab One"/>
                <a:ea typeface="Alfa Slab One"/>
                <a:cs typeface="Alfa Slab One"/>
                <a:sym typeface="Alfa Slab One"/>
              </a:rPr>
              <a:t>4</a:t>
            </a:r>
            <a:endParaRPr b="0" i="0" sz="1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7"/>
          <p:cNvSpPr/>
          <p:nvPr/>
        </p:nvSpPr>
        <p:spPr>
          <a:xfrm>
            <a:off x="16173218" y="7187950"/>
            <a:ext cx="5474400" cy="18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4800"/>
              <a:buFont typeface="Alfa Slab One"/>
              <a:buNone/>
            </a:pPr>
            <a:r>
              <a:rPr lang="en-US" sz="4800">
                <a:solidFill>
                  <a:srgbClr val="0E0E0E"/>
                </a:solidFill>
                <a:latin typeface="Alfa Slab One"/>
                <a:ea typeface="Alfa Slab One"/>
                <a:cs typeface="Alfa Slab One"/>
                <a:sym typeface="Alfa Slab One"/>
              </a:rPr>
              <a:t>FRONT END WEB APP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7"/>
          <p:cNvSpPr/>
          <p:nvPr/>
        </p:nvSpPr>
        <p:spPr>
          <a:xfrm>
            <a:off x="16173218" y="8965950"/>
            <a:ext cx="5406600" cy="25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3200"/>
              <a:buFont typeface="Poppins"/>
              <a:buNone/>
            </a:pPr>
            <a:r>
              <a:rPr lang="en-US" sz="3200">
                <a:solidFill>
                  <a:srgbClr val="0E0E0E"/>
                </a:solidFill>
                <a:latin typeface="Poppins"/>
                <a:ea typeface="Poppins"/>
                <a:cs typeface="Poppins"/>
                <a:sym typeface="Poppins"/>
              </a:rPr>
              <a:t>Add a webapp with noir theme so users can have the best experience</a:t>
            </a:r>
            <a:endParaRPr sz="3200">
              <a:solidFill>
                <a:srgbClr val="0E0E0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2" name="Google Shape;202;p17"/>
          <p:cNvSpPr/>
          <p:nvPr/>
        </p:nvSpPr>
        <p:spPr>
          <a:xfrm>
            <a:off x="14839552" y="3460500"/>
            <a:ext cx="1608900" cy="27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727"/>
              </a:buClr>
              <a:buSzPts val="12800"/>
              <a:buFont typeface="Alfa Slab One"/>
              <a:buNone/>
            </a:pPr>
            <a:r>
              <a:rPr b="0" i="0" lang="en-US" sz="12800" u="none" cap="none" strike="noStrike">
                <a:solidFill>
                  <a:srgbClr val="272727"/>
                </a:solidFill>
                <a:latin typeface="Alfa Slab One"/>
                <a:ea typeface="Alfa Slab One"/>
                <a:cs typeface="Alfa Slab One"/>
                <a:sym typeface="Alfa Slab One"/>
              </a:rPr>
              <a:t>2</a:t>
            </a:r>
            <a:endParaRPr b="0" i="0" sz="1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7"/>
          <p:cNvSpPr/>
          <p:nvPr/>
        </p:nvSpPr>
        <p:spPr>
          <a:xfrm>
            <a:off x="16109710" y="2768350"/>
            <a:ext cx="5538000" cy="18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4800"/>
              <a:buFont typeface="Alfa Slab One"/>
              <a:buNone/>
            </a:pPr>
            <a:r>
              <a:rPr lang="en-US" sz="4800">
                <a:solidFill>
                  <a:srgbClr val="0E0E0E"/>
                </a:solidFill>
                <a:latin typeface="Alfa Slab One"/>
                <a:ea typeface="Alfa Slab One"/>
                <a:cs typeface="Alfa Slab One"/>
                <a:sym typeface="Alfa Slab One"/>
              </a:rPr>
              <a:t>ADD RETRY LOGIC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7"/>
          <p:cNvSpPr/>
          <p:nvPr/>
        </p:nvSpPr>
        <p:spPr>
          <a:xfrm>
            <a:off x="16109710" y="4546350"/>
            <a:ext cx="5470200" cy="19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3200"/>
              <a:buFont typeface="Poppins"/>
              <a:buNone/>
            </a:pPr>
            <a:r>
              <a:rPr lang="en-US" sz="3200">
                <a:solidFill>
                  <a:srgbClr val="0E0E0E"/>
                </a:solidFill>
                <a:latin typeface="Poppins"/>
                <a:ea typeface="Poppins"/>
                <a:cs typeface="Poppins"/>
                <a:sym typeface="Poppins"/>
              </a:rPr>
              <a:t>5 eval cases hit rate limits. Auto-retry would prevent these from counting as failures.</a:t>
            </a:r>
            <a:endParaRPr sz="3200">
              <a:solidFill>
                <a:srgbClr val="0E0E0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5" name="Google Shape;205;p17"/>
          <p:cNvSpPr/>
          <p:nvPr/>
        </p:nvSpPr>
        <p:spPr>
          <a:xfrm>
            <a:off x="5721464" y="1350300"/>
            <a:ext cx="12944100" cy="17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727"/>
              </a:buClr>
              <a:buSzPts val="8000"/>
              <a:buFont typeface="Alfa Slab One"/>
              <a:buNone/>
            </a:pPr>
            <a:r>
              <a:rPr lang="en-US" sz="8000">
                <a:solidFill>
                  <a:srgbClr val="272727"/>
                </a:solidFill>
                <a:latin typeface="Alfa Slab One"/>
                <a:ea typeface="Alfa Slab One"/>
                <a:cs typeface="Alfa Slab One"/>
                <a:sym typeface="Alfa Slab One"/>
              </a:rPr>
              <a:t>WHAT WE'D IMPROVE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E7D6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1"/>
          <p:cNvSpPr/>
          <p:nvPr/>
        </p:nvSpPr>
        <p:spPr>
          <a:xfrm rot="10800000">
            <a:off x="254032" y="254000"/>
            <a:ext cx="23878984" cy="13208000"/>
          </a:xfrm>
          <a:prstGeom prst="rect">
            <a:avLst/>
          </a:prstGeom>
          <a:solidFill>
            <a:srgbClr val="A7B7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12" name="Google Shape;21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032" y="254000"/>
            <a:ext cx="23878984" cy="1320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3" name="Google Shape;21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063" y="508000"/>
            <a:ext cx="23370921" cy="1270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4" name="Google Shape;21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876984" y="2921000"/>
            <a:ext cx="7722565" cy="781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5" name="Google Shape;215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489242" y="4358531"/>
            <a:ext cx="5325413" cy="68731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6" name="Google Shape;216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6868905" y="3008461"/>
            <a:ext cx="6073992" cy="46432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7" name="Google Shape;217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422153" y="9534327"/>
            <a:ext cx="5594246" cy="1785987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1"/>
          <p:cNvSpPr/>
          <p:nvPr/>
        </p:nvSpPr>
        <p:spPr>
          <a:xfrm>
            <a:off x="23370921" y="10515600"/>
            <a:ext cx="1016127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1409875" y="6883400"/>
            <a:ext cx="10563600" cy="4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4000"/>
              </a:spcBef>
              <a:spcAft>
                <a:spcPts val="0"/>
              </a:spcAft>
              <a:buClr>
                <a:srgbClr val="0E0E0E"/>
              </a:buClr>
              <a:buSzPts val="3200"/>
              <a:buFont typeface="Poppins"/>
              <a:buNone/>
            </a:pPr>
            <a:r>
              <a:rPr lang="en-US" sz="3200">
                <a:solidFill>
                  <a:srgbClr val="0E0E0E"/>
                </a:solidFill>
                <a:latin typeface="Poppins"/>
                <a:ea typeface="Poppins"/>
                <a:cs typeface="Poppins"/>
                <a:sym typeface="Poppins"/>
              </a:rPr>
              <a:t>Thank you for watching the Noir Mystery Story Engine in action. Clone it, run it, give it your own crime scene.</a:t>
            </a:r>
            <a:endParaRPr sz="3200">
              <a:solidFill>
                <a:srgbClr val="0E0E0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0"/>
              </a:spcBef>
              <a:spcAft>
                <a:spcPts val="0"/>
              </a:spcAft>
              <a:buClr>
                <a:srgbClr val="0E0E0E"/>
              </a:buClr>
              <a:buSzPts val="3200"/>
              <a:buFont typeface="Poppins"/>
              <a:buNone/>
            </a:pPr>
            <a:r>
              <a:rPr lang="en-US" sz="32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9"/>
              </a:rPr>
              <a:t>github.com/NhanNguyen-SG/noir-mystery-engine</a:t>
            </a:r>
            <a:endParaRPr sz="3200">
              <a:solidFill>
                <a:srgbClr val="0E0E0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0"/>
              </a:spcBef>
              <a:spcAft>
                <a:spcPts val="0"/>
              </a:spcAft>
              <a:buClr>
                <a:srgbClr val="0E0E0E"/>
              </a:buClr>
              <a:buSzPts val="3200"/>
              <a:buFont typeface="Poppins"/>
              <a:buNone/>
            </a:pPr>
            <a:r>
              <a:t/>
            </a:r>
            <a:endParaRPr sz="3200">
              <a:solidFill>
                <a:srgbClr val="0E0E0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0"/>
              </a:spcBef>
              <a:spcAft>
                <a:spcPts val="0"/>
              </a:spcAft>
              <a:buClr>
                <a:srgbClr val="0E0E0E"/>
              </a:buClr>
              <a:buSzPts val="3200"/>
              <a:buFont typeface="Poppins"/>
              <a:buNone/>
            </a:pPr>
            <a:r>
              <a:rPr lang="en-US" sz="3200">
                <a:solidFill>
                  <a:srgbClr val="0E0E0E"/>
                </a:solidFill>
                <a:latin typeface="Poppins"/>
                <a:ea typeface="Poppins"/>
                <a:cs typeface="Poppins"/>
                <a:sym typeface="Poppins"/>
              </a:rPr>
              <a:t>Any questions?</a:t>
            </a:r>
            <a:endParaRPr sz="3200">
              <a:solidFill>
                <a:srgbClr val="0E0E0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1409875" y="3276600"/>
            <a:ext cx="12650400" cy="14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727"/>
              </a:buClr>
              <a:buSzPts val="8000"/>
              <a:buFont typeface="Alfa Slab One"/>
              <a:buNone/>
            </a:pPr>
            <a:r>
              <a:rPr lang="en-US" sz="8000">
                <a:solidFill>
                  <a:srgbClr val="272727"/>
                </a:solidFill>
                <a:latin typeface="Alfa Slab One"/>
                <a:ea typeface="Alfa Slab One"/>
                <a:cs typeface="Alfa Slab One"/>
                <a:sym typeface="Alfa Slab One"/>
              </a:rPr>
              <a:t>THE GAME IS AFOOT.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221" name="Google Shape;221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3259065" y="3271540"/>
            <a:ext cx="9336694" cy="8112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2023-10-13T08:00:35Z</dcterms:created>
  <dc:creator>PptxGenJS</dc:creator>
</cp:coreProperties>
</file>